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1" autoAdjust="0"/>
    <p:restoredTop sz="94660"/>
  </p:normalViewPr>
  <p:slideViewPr>
    <p:cSldViewPr snapToGrid="0">
      <p:cViewPr varScale="1">
        <p:scale>
          <a:sx n="46" d="100"/>
          <a:sy n="46" d="100"/>
        </p:scale>
        <p:origin x="53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1D8E-147F-67A0-4599-5B7AA5914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5A1DD-64D7-F53E-D913-2D97742F8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D66A8-BC1A-7818-A7C0-5EFFE0B20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C11A-E70C-4AD4-AE95-CF563ED4974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62AEA-FE94-0D6E-1BD3-27F56EDA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5BE9A-29C9-68BA-3E36-27BC6B566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99863-5496-46F6-B3F4-D86F013AE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04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3DE5-E160-71B7-6313-D5CFE85F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8F62F-52B5-383D-7467-6EF1E99DE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39093-D4BD-6DB5-4FED-189483B7F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C11A-E70C-4AD4-AE95-CF563ED4974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2E456-08B0-32E4-4173-DE39217F4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8F855-7DE5-F94A-B3AC-19C7CCF11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99863-5496-46F6-B3F4-D86F013AE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287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71309-113C-3616-7AAF-93714DD3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58ED1-5D2B-679F-1BA3-6014AF94F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8DE5B-5D66-0438-7959-5113ED17A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C11A-E70C-4AD4-AE95-CF563ED4974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1B383-0F0A-AB14-0B8E-DCD67318D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1DA27-E122-3C0D-0DD6-AFC6B4647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99863-5496-46F6-B3F4-D86F013AE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601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ED238-6539-EA4B-DE01-3769B4CF2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E5742-A68C-A6FD-48FE-84D4BD270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3B425-56E6-648A-3339-D67828143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D7FC7-1EAE-DE4A-65D9-241FC73F4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C11A-E70C-4AD4-AE95-CF563ED4974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7D34E-E393-5B1A-501A-69F50263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CCB31-1E3A-ECDF-4522-CBB8990A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99863-5496-46F6-B3F4-D86F013AE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151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AA33E-B14D-8E02-2FDE-4DEDDE0D7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37653-0AC3-E367-A4CF-CF57E5E78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A27A0-D681-2644-1DF4-0F056722B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7F75A0-CD2A-42E2-616B-01E076B5A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6A0E3-FE52-A347-F942-627D1D90F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C007-24DF-3A57-DF7A-2584F3900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C11A-E70C-4AD4-AE95-CF563ED4974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D2BDDD-FFF9-E162-3E09-A121598B5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13A29E-04B8-B56D-F018-669D03A6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99863-5496-46F6-B3F4-D86F013AE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49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331F7-B7A9-B7D9-1B86-505C8AB98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08DDE-1D00-F1C2-8633-F8C919ACA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C11A-E70C-4AD4-AE95-CF563ED4974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A7462-FCFB-6EAE-211C-901BA966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1870E-2C64-FD47-435A-010E8AAC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99863-5496-46F6-B3F4-D86F013AE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243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CAA93B-E88C-E63F-C741-D04A81A54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C11A-E70C-4AD4-AE95-CF563ED4974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FD406A-9982-CFAB-69C1-673137BF3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D348A-7B83-AF06-5CE4-2545B4086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99863-5496-46F6-B3F4-D86F013AE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60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8C736-3EC1-E0AE-39D3-D1812D9CC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0FC7B-850B-FC84-2E19-7129A1BED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6EE759-8668-EADF-EC7A-83B2085AB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E6FD1D-3084-C4B2-3D41-F6AD061EB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C11A-E70C-4AD4-AE95-CF563ED4974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5CF5A-1922-0FC5-7D92-F8CF34F86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E821C-6A43-BD70-B774-17559650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99863-5496-46F6-B3F4-D86F013AE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78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39203-9628-F4C1-38D6-1C6C6F1E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C9FA21-CD02-365B-9711-AB1992335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F0EB56-491A-66F7-8552-CD5BF49C9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506E3-71A8-EC6B-CDC5-AB347213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C11A-E70C-4AD4-AE95-CF563ED4974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44830-AE61-9502-217F-078A00F00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A7DD3-5B7E-7133-E4E2-6970F0148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99863-5496-46F6-B3F4-D86F013AE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068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B30D0-03E7-950B-8773-5D049C673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713CC-0314-A87D-31A4-785243C18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21F24-4EA5-3536-C129-17C6A3B2C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C11A-E70C-4AD4-AE95-CF563ED4974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9F7B2-EF13-A717-E198-C975F34D6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F34C9-DC62-A891-0244-317B9AA6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99863-5496-46F6-B3F4-D86F013AE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529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680D70-8E47-F61D-DACB-431E939113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8FECD5-FA69-23EB-F086-330E125D3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67477-7518-A394-FC2E-545261A95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1C11A-E70C-4AD4-AE95-CF563ED4974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97466-57ED-0A25-E983-9E6557B59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50-4191-50C5-FB3D-F76357823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99863-5496-46F6-B3F4-D86F013AE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452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75B5CC-78EC-F0B9-C963-00B19B967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25B69-9DEB-FEB6-AD0B-0E3509E23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58A5B-D9BC-EC7B-B4FC-86E0EDDDB9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1C11A-E70C-4AD4-AE95-CF563ED4974C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4F3AC-3072-610C-4E9F-A3F8C990F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36AC6-B05B-4BEC-58E9-D3B81F601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99863-5496-46F6-B3F4-D86F013AE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886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A4E5B-D12C-678F-ECCC-C21B3323C1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2"/>
            <a:ext cx="9365673" cy="5095558"/>
          </a:xfrm>
        </p:spPr>
        <p:txBody>
          <a:bodyPr>
            <a:normAutofit/>
          </a:bodyPr>
          <a:lstStyle/>
          <a:p>
            <a:r>
              <a:rPr lang="en-US" sz="6600" dirty="0"/>
              <a:t>Project Report: </a:t>
            </a:r>
            <a:br>
              <a:rPr lang="en-US" sz="6600" dirty="0"/>
            </a:br>
            <a:r>
              <a:rPr lang="en-US" sz="6600" dirty="0"/>
              <a:t>Tobacco Use and Mortality Analysis</a:t>
            </a:r>
            <a:br>
              <a:rPr lang="en-US" sz="6600" dirty="0"/>
            </a:br>
            <a:br>
              <a:rPr lang="en-US" sz="6600" dirty="0"/>
            </a:br>
            <a:r>
              <a:rPr lang="en-US" sz="3200" dirty="0"/>
              <a:t>Afsana Shaikh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877821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136F3-FC3D-194C-D7F6-2A04D9A16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Objective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7DE15-F95E-FB59-006E-505D1ABEC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notebook aims to </a:t>
            </a:r>
            <a:r>
              <a:rPr lang="en-US" b="1" dirty="0"/>
              <a:t>analyze the relationship between tobacco use and mortality outcomes</a:t>
            </a:r>
            <a:r>
              <a:rPr lang="en-US" dirty="0"/>
              <a:t> by integrating multiple health-related datasets, performing exploratory analysis, and building predictive models to identify key contributing factors.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9422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504FE-39A9-1D72-0D77-0EBF298F4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Notebook Structure &amp; Line-by-Line Understanding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054C5-774F-B5CC-F8BB-816F3D1A0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🔹 Installation Section</a:t>
            </a:r>
          </a:p>
          <a:p>
            <a:r>
              <a:rPr lang="en-IN" dirty="0"/>
              <a:t>Installs required Python libraries (e.g., pandas, </a:t>
            </a:r>
            <a:r>
              <a:rPr lang="en-IN" dirty="0" err="1"/>
              <a:t>numpy</a:t>
            </a:r>
            <a:r>
              <a:rPr lang="en-IN" dirty="0"/>
              <a:t>, matplotlib, seaborn, </a:t>
            </a:r>
            <a:r>
              <a:rPr lang="en-IN" dirty="0" err="1"/>
              <a:t>sklearn</a:t>
            </a:r>
            <a:r>
              <a:rPr lang="en-IN" dirty="0"/>
              <a:t>).</a:t>
            </a:r>
          </a:p>
          <a:p>
            <a:r>
              <a:rPr lang="en-IN" dirty="0"/>
              <a:t>Ensures the environment supports data analysis and machine learning tasks.</a:t>
            </a:r>
          </a:p>
          <a:p>
            <a:pPr marL="0" indent="0">
              <a:buNone/>
            </a:pPr>
            <a:r>
              <a:rPr lang="en-IN" b="1" dirty="0"/>
              <a:t>🔹 Imports</a:t>
            </a:r>
          </a:p>
          <a:p>
            <a:r>
              <a:rPr lang="en-IN" dirty="0"/>
              <a:t>Imports:</a:t>
            </a:r>
          </a:p>
          <a:p>
            <a:pPr lvl="1"/>
            <a:r>
              <a:rPr lang="en-IN" b="1" dirty="0"/>
              <a:t>Data handling</a:t>
            </a:r>
            <a:r>
              <a:rPr lang="en-IN" dirty="0"/>
              <a:t>: pandas, </a:t>
            </a:r>
            <a:r>
              <a:rPr lang="en-IN" dirty="0" err="1"/>
              <a:t>numpy</a:t>
            </a:r>
            <a:endParaRPr lang="en-IN" dirty="0"/>
          </a:p>
          <a:p>
            <a:pPr lvl="1"/>
            <a:r>
              <a:rPr lang="en-IN" b="1" dirty="0"/>
              <a:t>Visualization</a:t>
            </a:r>
            <a:r>
              <a:rPr lang="en-IN" dirty="0"/>
              <a:t>: matplotlib, seaborn</a:t>
            </a:r>
          </a:p>
          <a:p>
            <a:pPr lvl="1"/>
            <a:r>
              <a:rPr lang="en-IN" b="1" dirty="0" err="1"/>
              <a:t>Modeling</a:t>
            </a:r>
            <a:r>
              <a:rPr lang="en-IN" b="1" dirty="0"/>
              <a:t> &amp; evaluation</a:t>
            </a:r>
            <a:r>
              <a:rPr lang="en-IN" dirty="0"/>
              <a:t>: </a:t>
            </a:r>
            <a:r>
              <a:rPr lang="en-IN" dirty="0" err="1"/>
              <a:t>sklearn</a:t>
            </a:r>
            <a:r>
              <a:rPr lang="en-IN" dirty="0"/>
              <a:t> modules</a:t>
            </a:r>
          </a:p>
          <a:p>
            <a:r>
              <a:rPr lang="en-IN" dirty="0"/>
              <a:t>Sets up the foundational tools for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7601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3EFF9-1184-85B7-1651-117120E72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8887"/>
            <a:ext cx="10515600" cy="572807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🔹Data Loading and Understanding</a:t>
            </a:r>
          </a:p>
          <a:p>
            <a:r>
              <a:rPr lang="en-IN" dirty="0"/>
              <a:t>Multiple datasets are loaded, each representing a different health dimension:</a:t>
            </a:r>
          </a:p>
          <a:p>
            <a:r>
              <a:rPr lang="en-IN" b="1" dirty="0"/>
              <a:t>Datasets Used:</a:t>
            </a:r>
          </a:p>
          <a:p>
            <a:r>
              <a:rPr lang="en-IN" b="1" dirty="0"/>
              <a:t>Admissions</a:t>
            </a:r>
            <a:r>
              <a:rPr lang="en-IN" dirty="0"/>
              <a:t> – Hospital admission counts</a:t>
            </a:r>
          </a:p>
          <a:p>
            <a:r>
              <a:rPr lang="en-IN" b="1" dirty="0"/>
              <a:t>Fatalities</a:t>
            </a:r>
            <a:r>
              <a:rPr lang="en-IN" dirty="0"/>
              <a:t> – Mortality statistics</a:t>
            </a:r>
          </a:p>
          <a:p>
            <a:r>
              <a:rPr lang="en-IN" b="1" dirty="0"/>
              <a:t>Metrics</a:t>
            </a:r>
            <a:r>
              <a:rPr lang="en-IN" dirty="0"/>
              <a:t> – General health indicators</a:t>
            </a:r>
          </a:p>
          <a:p>
            <a:r>
              <a:rPr lang="en-IN" b="1" dirty="0"/>
              <a:t>Prescriptions</a:t>
            </a:r>
            <a:r>
              <a:rPr lang="en-IN" dirty="0"/>
              <a:t> – Tobacco-related medication usage</a:t>
            </a:r>
          </a:p>
          <a:p>
            <a:r>
              <a:rPr lang="en-IN" b="1" dirty="0"/>
              <a:t>Smokers</a:t>
            </a:r>
            <a:r>
              <a:rPr lang="en-IN" dirty="0"/>
              <a:t> – Smoking prevalence data</a:t>
            </a:r>
          </a:p>
          <a:p>
            <a:r>
              <a:rPr lang="en-IN" dirty="0"/>
              <a:t>Initial inspection (head(), info(), shape()) is performed.</a:t>
            </a:r>
          </a:p>
          <a:p>
            <a:r>
              <a:rPr lang="en-IN" dirty="0"/>
              <a:t>Confirms column names, data types, and missing values.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0351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CB9F7-D20A-F30E-9EB1-AF0130110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2014"/>
            <a:ext cx="10515600" cy="600178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🔹 Data Cleaning</a:t>
            </a:r>
          </a:p>
          <a:p>
            <a:r>
              <a:rPr lang="en-IN" dirty="0"/>
              <a:t>Handles:</a:t>
            </a:r>
          </a:p>
          <a:p>
            <a:pPr lvl="1"/>
            <a:r>
              <a:rPr lang="en-IN" dirty="0"/>
              <a:t>Missing values</a:t>
            </a:r>
          </a:p>
          <a:p>
            <a:pPr lvl="1"/>
            <a:r>
              <a:rPr lang="en-IN" dirty="0"/>
              <a:t>Incorrect data types (e.g., dates, numeric conversions)</a:t>
            </a:r>
          </a:p>
          <a:p>
            <a:pPr lvl="1"/>
            <a:r>
              <a:rPr lang="en-IN" dirty="0"/>
              <a:t>Column name inconsistencies</a:t>
            </a:r>
          </a:p>
          <a:p>
            <a:r>
              <a:rPr lang="en-IN" dirty="0"/>
              <a:t>Ensures all datasets are standardized before merging.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🔹 Feature Engineering</a:t>
            </a:r>
          </a:p>
          <a:p>
            <a:r>
              <a:rPr lang="en-IN" dirty="0"/>
              <a:t>Creates meaningful features such as:</a:t>
            </a:r>
          </a:p>
          <a:p>
            <a:pPr lvl="1"/>
            <a:r>
              <a:rPr lang="en-IN" dirty="0"/>
              <a:t>Aggregated smoking rates</a:t>
            </a:r>
          </a:p>
          <a:p>
            <a:pPr lvl="1"/>
            <a:r>
              <a:rPr lang="en-IN" dirty="0"/>
              <a:t>Derived mortality ratios</a:t>
            </a:r>
          </a:p>
          <a:p>
            <a:pPr lvl="1"/>
            <a:r>
              <a:rPr lang="en-IN" dirty="0"/>
              <a:t>Combined health indicators</a:t>
            </a:r>
          </a:p>
          <a:p>
            <a:r>
              <a:rPr lang="en-IN" dirty="0"/>
              <a:t>Improves model performance by transforming raw data into usable predictors.</a:t>
            </a:r>
          </a:p>
        </p:txBody>
      </p:sp>
    </p:spTree>
    <p:extLst>
      <p:ext uri="{BB962C8B-B14F-4D97-AF65-F5344CB8AC3E}">
        <p14:creationId xmlns:p14="http://schemas.microsoft.com/office/powerpoint/2010/main" val="699415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211DB-F205-20B6-7508-43AED928B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5265"/>
            <a:ext cx="10515600" cy="561169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🔹 Exploratory Data Analysis (EDA)</a:t>
            </a:r>
          </a:p>
          <a:p>
            <a:r>
              <a:rPr lang="en-US" dirty="0"/>
              <a:t>Uses visualizations to identify:</a:t>
            </a:r>
          </a:p>
          <a:p>
            <a:pPr lvl="1"/>
            <a:r>
              <a:rPr lang="en-US" dirty="0"/>
              <a:t>Trends in smoking vs mortality</a:t>
            </a:r>
          </a:p>
          <a:p>
            <a:pPr lvl="1"/>
            <a:r>
              <a:rPr lang="en-US" dirty="0"/>
              <a:t>Distribution of admissions and fatalities</a:t>
            </a:r>
          </a:p>
          <a:p>
            <a:pPr lvl="1"/>
            <a:r>
              <a:rPr lang="en-US" dirty="0"/>
              <a:t>Outliers and skewness</a:t>
            </a:r>
          </a:p>
          <a:p>
            <a:r>
              <a:rPr lang="en-US" dirty="0"/>
              <a:t>Helps validate assumptions and understand relationships in the data.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🔹 Correlation Analysis</a:t>
            </a:r>
          </a:p>
          <a:p>
            <a:r>
              <a:rPr lang="en-US" dirty="0"/>
              <a:t>Correlation matrix and heatmaps are used.</a:t>
            </a:r>
          </a:p>
          <a:p>
            <a:r>
              <a:rPr lang="en-US" dirty="0"/>
              <a:t>Identifies strong positive correlations between:</a:t>
            </a:r>
          </a:p>
          <a:p>
            <a:pPr lvl="1"/>
            <a:r>
              <a:rPr lang="en-US" dirty="0"/>
              <a:t>Smoking prevalence</a:t>
            </a:r>
          </a:p>
          <a:p>
            <a:pPr lvl="1"/>
            <a:r>
              <a:rPr lang="en-US" dirty="0"/>
              <a:t>Hospital admissions</a:t>
            </a:r>
          </a:p>
          <a:p>
            <a:pPr lvl="1"/>
            <a:r>
              <a:rPr lang="en-US" dirty="0"/>
              <a:t>Mortality rates</a:t>
            </a:r>
          </a:p>
          <a:p>
            <a:r>
              <a:rPr lang="en-US" dirty="0"/>
              <a:t>Guides feature selection for modeling.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9818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C86E0-7FCF-C90A-5119-B85EEF3F9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2015"/>
            <a:ext cx="10515600" cy="56449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🔹 Model Building and Evaluation</a:t>
            </a:r>
          </a:p>
          <a:p>
            <a:r>
              <a:rPr lang="en-US" dirty="0"/>
              <a:t>Machine learning models are trained (e.g., regression-based models).</a:t>
            </a:r>
          </a:p>
          <a:p>
            <a:r>
              <a:rPr lang="en-US" dirty="0"/>
              <a:t>Data is split into training and testing sets.</a:t>
            </a:r>
          </a:p>
          <a:p>
            <a:r>
              <a:rPr lang="en-US" dirty="0"/>
              <a:t>Performance metrics such as:</a:t>
            </a:r>
          </a:p>
          <a:p>
            <a:pPr lvl="1"/>
            <a:r>
              <a:rPr lang="en-US" dirty="0"/>
              <a:t>R²</a:t>
            </a:r>
          </a:p>
          <a:p>
            <a:pPr lvl="1"/>
            <a:r>
              <a:rPr lang="en-US" dirty="0"/>
              <a:t>Mean Squared Error (MSE)</a:t>
            </a:r>
          </a:p>
          <a:p>
            <a:r>
              <a:rPr lang="en-US" dirty="0"/>
              <a:t>Used to assess prediction accuracy.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🔹 Top Features Identification</a:t>
            </a:r>
          </a:p>
          <a:p>
            <a:r>
              <a:rPr lang="en-US" dirty="0"/>
              <a:t>Feature importance techniques applied.</a:t>
            </a:r>
          </a:p>
          <a:p>
            <a:r>
              <a:rPr lang="en-US" dirty="0"/>
              <a:t>Highlights the most influential predictors of mortality, such as:</a:t>
            </a:r>
          </a:p>
          <a:p>
            <a:pPr lvl="1"/>
            <a:r>
              <a:rPr lang="en-US" dirty="0"/>
              <a:t>Smoking prevalence</a:t>
            </a:r>
          </a:p>
          <a:p>
            <a:pPr lvl="1"/>
            <a:r>
              <a:rPr lang="en-US" dirty="0"/>
              <a:t>Hospital admissions</a:t>
            </a:r>
          </a:p>
          <a:p>
            <a:pPr lvl="1"/>
            <a:r>
              <a:rPr lang="en-US" dirty="0"/>
              <a:t>Prescription rates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758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0EA77-B57A-E5B1-842C-95BB91C2C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2832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🔹 Model Explainability</a:t>
            </a:r>
          </a:p>
          <a:p>
            <a:r>
              <a:rPr lang="en-US" dirty="0"/>
              <a:t>Interprets model outputs to explain </a:t>
            </a:r>
            <a:r>
              <a:rPr lang="en-US" b="1" dirty="0"/>
              <a:t>why</a:t>
            </a:r>
            <a:r>
              <a:rPr lang="en-US" dirty="0"/>
              <a:t> predictions are made.</a:t>
            </a:r>
          </a:p>
          <a:p>
            <a:r>
              <a:rPr lang="en-US" dirty="0"/>
              <a:t>Improves trust and transparency in the results.</a:t>
            </a:r>
          </a:p>
          <a:p>
            <a:r>
              <a:rPr lang="en-US" dirty="0"/>
              <a:t>Supports data-driven policy or health recommendations.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2017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5BE07-230A-AC44-A1C0-72CB821B4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Key Findings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50B0EF8-8E5E-7064-653E-4C94CE265C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5248"/>
            <a:ext cx="1034289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Tobacco usage shows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positive association with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mortality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Smoking prevalence consistently appears as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predictor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Hospital admissions act as an intermediary indicator linking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tobacco use and fatalities.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066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9C4D5-825F-1E7C-D11A-E87DC7344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Limitations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08E783-A9CA-8929-2445-D81C844B8C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1028422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Dependent on data quality and completeness.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Temporal causation may not be fully captured.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External socioeconomic factors are not deeply modeled.</a:t>
            </a:r>
          </a:p>
        </p:txBody>
      </p:sp>
    </p:spTree>
    <p:extLst>
      <p:ext uri="{BB962C8B-B14F-4D97-AF65-F5344CB8AC3E}">
        <p14:creationId xmlns:p14="http://schemas.microsoft.com/office/powerpoint/2010/main" val="817398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D10EC-0A82-DE9D-3C1B-3F166AD07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</a:t>
            </a:r>
            <a:r>
              <a:rPr lang="en-IN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D0DAB-99A6-3BD2-A850-63626B058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notebook successfully demonstrates how </a:t>
            </a:r>
            <a:r>
              <a:rPr lang="en-US" b="1" dirty="0"/>
              <a:t>integrated health datasets and machine learning</a:t>
            </a:r>
            <a:r>
              <a:rPr lang="en-US" dirty="0"/>
              <a:t> can be used to quantify the impact of tobacco use on mortality. The analysis supports the need for stronger tobacco control measures and preventive healthcare strategies.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6589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523</Words>
  <Application>Microsoft Office PowerPoint</Application>
  <PresentationFormat>Widescreen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Project Report:  Tobacco Use and Mortality Analysis  Afsana Shaikh</vt:lpstr>
      <vt:lpstr>1. Objective </vt:lpstr>
      <vt:lpstr>2. Notebook Structure &amp; Line-by-Line Understanding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Key Findings</vt:lpstr>
      <vt:lpstr>4. Limitations</vt:lpstr>
      <vt:lpstr>5.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AFSANA</dc:creator>
  <cp:lastModifiedBy>AFSANA</cp:lastModifiedBy>
  <cp:revision>2</cp:revision>
  <dcterms:created xsi:type="dcterms:W3CDTF">2025-12-25T17:44:41Z</dcterms:created>
  <dcterms:modified xsi:type="dcterms:W3CDTF">2025-12-26T11:17:22Z</dcterms:modified>
</cp:coreProperties>
</file>